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1480000">
            <a:off x="3697199" y="1365307"/>
            <a:ext cx="1749491" cy="232703"/>
          </a:xfrm>
          <a:prstGeom prst="roundRect">
            <a:avLst>
              <a:gd name="adj" fmla="val 4089107"/>
            </a:avLst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21480000">
            <a:off x="3693263" y="1388790"/>
            <a:ext cx="1757363" cy="237744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t"/>
          <a:lstStyle/>
          <a:p>
            <a:pPr algn="ctr" indent="0" marL="0">
              <a:buNone/>
            </a:pPr>
            <a:r>
              <a:rPr lang="en-US" sz="800" b="1" spc="8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MU ANANT 1.0 · TEAM ANT011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803127"/>
            <a:ext cx="8595248" cy="610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5"/>
              </a:lnSpc>
              <a:buNone/>
            </a:pPr>
            <a:r>
              <a:rPr lang="en-US" sz="405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</a:t>
            </a:r>
            <a:pPr algn="ctr" indent="0" marL="0">
              <a:lnSpc>
                <a:spcPts val="4455"/>
              </a:lnSpc>
              <a:buNone/>
            </a:pPr>
            <a:r>
              <a:rPr lang="en-US" sz="4050" b="1" dirty="0">
                <a:solidFill>
                  <a:srgbClr val="0091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</a:t>
            </a:r>
            <a:pPr algn="ctr" indent="0" marL="0">
              <a:lnSpc>
                <a:spcPts val="4455"/>
              </a:lnSpc>
              <a:buNone/>
            </a:pPr>
            <a:r>
              <a:rPr lang="en-US" sz="4050" b="1" dirty="0">
                <a:solidFill>
                  <a:srgbClr val="FF705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MITRA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4286250" y="2568848"/>
            <a:ext cx="571500" cy="35719"/>
          </a:xfrm>
          <a:prstGeom prst="roundRect">
            <a:avLst>
              <a:gd name="adj" fmla="val 79999"/>
            </a:avLst>
          </a:prstGeom>
          <a:solidFill>
            <a:srgbClr val="FE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58023" y="2776017"/>
            <a:ext cx="242784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Kuch Karke Dikhana Hai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2986980" y="3061767"/>
            <a:ext cx="3169927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13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demand layer for India's $850B neighborhood retail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2592512" y="3484734"/>
            <a:ext cx="1005818" cy="282778"/>
          </a:xfrm>
          <a:prstGeom prst="roundRect">
            <a:avLst>
              <a:gd name="adj" fmla="val 3364998"/>
            </a:avLst>
          </a:prstGeom>
          <a:solidFill>
            <a:srgbClr val="FFFFFF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26941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92512" y="3497535"/>
            <a:ext cx="100581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Voice Search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91198" y="3504679"/>
            <a:ext cx="1537581" cy="242888"/>
          </a:xfrm>
          <a:prstGeom prst="roundRect">
            <a:avLst>
              <a:gd name="adj" fmla="val 3917639"/>
            </a:avLst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26941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84054" y="3497535"/>
            <a:ext cx="1551868" cy="282158"/>
          </a:xfrm>
          <a:prstGeom prst="rect">
            <a:avLst/>
          </a:prstGeom>
          <a:noFill/>
          <a:ln/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Zero-Inventory Onboarding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21647" y="3484734"/>
            <a:ext cx="1229841" cy="282778"/>
          </a:xfrm>
          <a:prstGeom prst="roundRect">
            <a:avLst>
              <a:gd name="adj" fmla="val 3364998"/>
            </a:avLst>
          </a:prstGeom>
          <a:solidFill>
            <a:srgbClr val="009146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26941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21647" y="3497535"/>
            <a:ext cx="122984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 Intelligence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8600" y="4872038"/>
            <a:ext cx="1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 · Kuch Karke Dikhana Hai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8686589" y="4872038"/>
            <a:ext cx="32032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/ 14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1540000">
            <a:off x="547093" y="408012"/>
            <a:ext cx="1019248" cy="226963"/>
          </a:xfrm>
          <a:prstGeom prst="roundRect">
            <a:avLst>
              <a:gd name="adj" fmla="val 4192523"/>
            </a:avLst>
          </a:prstGeom>
          <a:solidFill>
            <a:srgbClr val="FF705D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21540000">
            <a:off x="570942" y="428625"/>
            <a:ext cx="9715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3342" y="2100263"/>
            <a:ext cx="1405247" cy="501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1413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54779" y="2628900"/>
            <a:ext cx="104237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kirana shops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40310" y="2143125"/>
            <a:ext cx="14288" cy="571500"/>
          </a:xfrm>
          <a:prstGeom prst="rect">
            <a:avLst/>
          </a:prstGeom>
          <a:solidFill>
            <a:srgbClr val="14131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0852" y="2100263"/>
            <a:ext cx="2088824" cy="501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1413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$850B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60549" y="2628900"/>
            <a:ext cx="154943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annual retail GMV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15930" y="2143125"/>
            <a:ext cx="14288" cy="571500"/>
          </a:xfrm>
          <a:prstGeom prst="rect">
            <a:avLst/>
          </a:prstGeom>
          <a:solidFill>
            <a:srgbClr val="14131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12729" y="2100263"/>
            <a:ext cx="1836803" cy="501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F705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891737" y="2628900"/>
            <a:ext cx="127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digitally discoverable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8644" y="4221956"/>
            <a:ext cx="7986713" cy="485775"/>
          </a:xfrm>
          <a:prstGeom prst="roundRect">
            <a:avLst>
              <a:gd name="adj" fmla="val 39216"/>
            </a:avLst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500" y="4214813"/>
            <a:ext cx="8001000" cy="540068"/>
          </a:xfrm>
          <a:prstGeom prst="rect">
            <a:avLst/>
          </a:prstGeom>
          <a:noFill/>
          <a:ln/>
        </p:spPr>
        <p:txBody>
          <a:bodyPr wrap="square" lIns="200025" tIns="142875" rIns="200025" bIns="142875" rtlCol="0" anchor="t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95% of India's neighborhood retail is INVISIBLE online.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228600" y="4872038"/>
            <a:ext cx="1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 · Kuch Karke Dikhana Hai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8686589" y="4872038"/>
            <a:ext cx="32032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/ 14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1540000">
            <a:off x="4008025" y="1496372"/>
            <a:ext cx="1127950" cy="229088"/>
          </a:xfrm>
          <a:prstGeom prst="roundRect">
            <a:avLst>
              <a:gd name="adj" fmla="val 4153633"/>
            </a:avLst>
          </a:prstGeom>
          <a:solidFill>
            <a:srgbClr val="FF705D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21540000">
            <a:off x="4032647" y="1518047"/>
            <a:ext cx="107870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PAIN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 rot="21540000">
            <a:off x="3115675" y="1914125"/>
            <a:ext cx="2912538" cy="650882"/>
          </a:xfrm>
          <a:prstGeom prst="roundRect">
            <a:avLst>
              <a:gd name="adj" fmla="val 29268"/>
            </a:avLst>
          </a:prstGeom>
          <a:solidFill>
            <a:srgbClr val="F5F1E4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 rot="21540000">
            <a:off x="3114619" y="1932384"/>
            <a:ext cx="2914650" cy="663512"/>
          </a:xfrm>
          <a:prstGeom prst="rect">
            <a:avLst/>
          </a:prstGeom>
          <a:noFill/>
          <a:ln/>
        </p:spPr>
        <p:txBody>
          <a:bodyPr wrap="none" lIns="200025" tIns="142875" rIns="200025" bIns="142875" rtlCol="0" anchor="t"/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"Bhai, yeh hai kya?"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2371167" y="2718197"/>
            <a:ext cx="4401666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"Nahi hai." → Next shop. → "Nahi hai." → Next shop. → Amazon.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 rot="60000">
            <a:off x="2555068" y="3083034"/>
            <a:ext cx="4033864" cy="570488"/>
          </a:xfrm>
          <a:prstGeom prst="roundRect">
            <a:avLst>
              <a:gd name="adj" fmla="val 33392"/>
            </a:avLst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 rot="60000">
            <a:off x="2550319" y="3111103"/>
            <a:ext cx="4043363" cy="555498"/>
          </a:xfrm>
          <a:prstGeom prst="rect">
            <a:avLst/>
          </a:prstGeom>
          <a:noFill/>
          <a:ln/>
        </p:spPr>
        <p:txBody>
          <a:bodyPr wrap="square" lIns="200025" tIns="142875" rIns="200025" bIns="142875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shop next door was never discoverable.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28600" y="4872038"/>
            <a:ext cx="1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 · Kuch Karke Dikhana Hai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8686589" y="4872038"/>
            <a:ext cx="32032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/ 14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1540000">
            <a:off x="3944076" y="1362962"/>
            <a:ext cx="1255848" cy="231589"/>
          </a:xfrm>
          <a:prstGeom prst="roundRect">
            <a:avLst>
              <a:gd name="adj" fmla="val 4108777"/>
            </a:avLst>
          </a:prstGeom>
          <a:solidFill>
            <a:srgbClr val="FF705D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21540000">
            <a:off x="3968353" y="1385888"/>
            <a:ext cx="120729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SHOPKEEPER PAIN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 rot="21540000">
            <a:off x="2672361" y="1774219"/>
            <a:ext cx="3799167" cy="630656"/>
          </a:xfrm>
          <a:prstGeom prst="roundRect">
            <a:avLst>
              <a:gd name="adj" fmla="val 30207"/>
            </a:avLst>
          </a:prstGeom>
          <a:solidFill>
            <a:srgbClr val="141313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 rot="21540000">
            <a:off x="2671707" y="1800225"/>
            <a:ext cx="3800475" cy="624935"/>
          </a:xfrm>
          <a:prstGeom prst="rect">
            <a:avLst/>
          </a:prstGeom>
          <a:noFill/>
          <a:ln/>
        </p:spPr>
        <p:txBody>
          <a:bodyPr wrap="square" lIns="200025" tIns="142875" rIns="200025" bIns="142875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"Upload your entire inventory."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444502" y="2550319"/>
            <a:ext cx="4254996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Thousands of SKUs. No barcodes. No time. No reason to trust.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 rot="60000">
            <a:off x="2114455" y="2907465"/>
            <a:ext cx="4915090" cy="585870"/>
          </a:xfrm>
          <a:prstGeom prst="roundRect">
            <a:avLst>
              <a:gd name="adj" fmla="val 32516"/>
            </a:avLst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 rot="60000">
            <a:off x="2110978" y="2943225"/>
            <a:ext cx="4922044" cy="555498"/>
          </a:xfrm>
          <a:prstGeom prst="rect">
            <a:avLst/>
          </a:prstGeom>
          <a:noFill/>
          <a:ln/>
        </p:spPr>
        <p:txBody>
          <a:bodyPr wrap="square" lIns="200025" tIns="142875" rIns="200025" bIns="142875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 they don't. And they disappear from the digital map.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431107" y="3571875"/>
            <a:ext cx="4281674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shops exist. The demand exists. But they don't meet.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228600" y="4872038"/>
            <a:ext cx="1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 · Kuch Karke Dikhana Hai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8686589" y="4872038"/>
            <a:ext cx="32032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/ 14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35560" y="1218009"/>
            <a:ext cx="3672881" cy="501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150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Meet Vyapaar-Mitra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2944062" y="1853803"/>
            <a:ext cx="3255876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091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 live without a catalog.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3201217" y="2439591"/>
            <a:ext cx="2741566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41313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shopkeeper joins with just TWO things: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 rot="21480000">
            <a:off x="2700102" y="2796364"/>
            <a:ext cx="1683382" cy="758066"/>
          </a:xfrm>
          <a:prstGeom prst="roundRect">
            <a:avLst>
              <a:gd name="adj" fmla="val 25130"/>
            </a:avLst>
          </a:prstGeom>
          <a:solidFill>
            <a:srgbClr val="FFFFFF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07271" y="2953766"/>
            <a:ext cx="1269045" cy="258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CATEGORY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2907271" y="3239342"/>
            <a:ext cx="1313625" cy="16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Kirana · Hardware · Medical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4557210" y="3014663"/>
            <a:ext cx="266998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 rot="120000">
            <a:off x="4997862" y="2800507"/>
            <a:ext cx="1446109" cy="749780"/>
          </a:xfrm>
          <a:prstGeom prst="roundRect">
            <a:avLst>
              <a:gd name="adj" fmla="val 25407"/>
            </a:avLst>
          </a:prstGeom>
          <a:solidFill>
            <a:srgbClr val="FFFFFF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00558" y="2957909"/>
            <a:ext cx="1240715" cy="258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LOCATION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205030" y="3243485"/>
            <a:ext cx="1031771" cy="156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 + Lng only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33237" y="3761184"/>
            <a:ext cx="3277414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That's it. No catalog. No barcode. No upload.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228600" y="4872038"/>
            <a:ext cx="1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 · Kuch Karke Dikhana Hai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8686589" y="4872038"/>
            <a:ext cx="32032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/ 14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1540000">
            <a:off x="404242" y="319203"/>
            <a:ext cx="1334752" cy="233131"/>
          </a:xfrm>
          <a:prstGeom prst="roundRect">
            <a:avLst>
              <a:gd name="adj" fmla="val 4081600"/>
            </a:avLst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21540000">
            <a:off x="428681" y="342900"/>
            <a:ext cx="12858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PRODUCT LOOP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73882" y="1957388"/>
            <a:ext cx="442913" cy="442913"/>
          </a:xfrm>
          <a:prstGeom prst="ellipse">
            <a:avLst/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26941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66738" y="1950244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3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13941" y="2493169"/>
            <a:ext cx="156290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asks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13941" y="2636044"/>
            <a:ext cx="156290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Voice · Text · Photo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8625" y="2778919"/>
            <a:ext cx="133353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41313">
                    <a:alpha val="3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64569" y="1957388"/>
            <a:ext cx="442913" cy="442913"/>
          </a:xfrm>
          <a:prstGeom prst="ellipse">
            <a:avLst/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26941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57425" y="1950244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3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704628" y="2493169"/>
            <a:ext cx="156290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understands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04628" y="2636044"/>
            <a:ext cx="156290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Gemini → intent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19312" y="2778919"/>
            <a:ext cx="133353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41313">
                    <a:alpha val="3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655256" y="1957388"/>
            <a:ext cx="442913" cy="442913"/>
          </a:xfrm>
          <a:prstGeom prst="ellipse">
            <a:avLst/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26941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48112" y="1950244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3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95315" y="2493169"/>
            <a:ext cx="156290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Shops respond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95315" y="2636044"/>
            <a:ext cx="156290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YES + price · NO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9999" y="2778919"/>
            <a:ext cx="133353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41313">
                    <a:alpha val="3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5045943" y="1957388"/>
            <a:ext cx="442913" cy="442913"/>
          </a:xfrm>
          <a:prstGeom prst="ellipse">
            <a:avLst/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26941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38799" y="1950244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3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86002" y="2493169"/>
            <a:ext cx="156290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compares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86002" y="2636044"/>
            <a:ext cx="156290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offers, sorted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0687" y="2778919"/>
            <a:ext cx="133353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41313">
                    <a:alpha val="3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436630" y="1957388"/>
            <a:ext cx="442913" cy="442913"/>
          </a:xfrm>
          <a:prstGeom prst="ellipse">
            <a:avLst/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26941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29487" y="1950244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3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76690" y="2493169"/>
            <a:ext cx="156290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Picks exactly one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76690" y="2636044"/>
            <a:ext cx="156290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Atomic selection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91374" y="2778919"/>
            <a:ext cx="133353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41313">
                    <a:alpha val="3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7827318" y="2068116"/>
            <a:ext cx="442913" cy="442913"/>
          </a:xfrm>
          <a:prstGeom prst="ellipse">
            <a:avLst/>
          </a:prstGeom>
          <a:solidFill>
            <a:srgbClr val="009146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26941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820174" y="2060972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267377" y="2603897"/>
            <a:ext cx="156290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 intelligence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67377" y="2746772"/>
            <a:ext cx="1562906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YES/NO = data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5769" y="4343400"/>
            <a:ext cx="8272463" cy="450056"/>
          </a:xfrm>
          <a:prstGeom prst="roundRect">
            <a:avLst>
              <a:gd name="adj" fmla="val 42328"/>
            </a:avLst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28625" y="4336256"/>
            <a:ext cx="8286750" cy="501491"/>
          </a:xfrm>
          <a:prstGeom prst="rect">
            <a:avLst/>
          </a:prstGeom>
          <a:noFill/>
          <a:ln/>
        </p:spPr>
        <p:txBody>
          <a:bodyPr wrap="square" lIns="200025" tIns="142875" rIns="200025" bIns="142875" rtlCol="0" anchor="t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loop closes: every YES/NO feeds back as demand intelligence.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228600" y="4872038"/>
            <a:ext cx="1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 · Kuch Karke Dikhana Hai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8686589" y="4872038"/>
            <a:ext cx="32032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/ 14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1540000">
            <a:off x="3977892" y="1252895"/>
            <a:ext cx="1188216" cy="230266"/>
          </a:xfrm>
          <a:prstGeom prst="roundRect">
            <a:avLst>
              <a:gd name="adj" fmla="val 4132384"/>
            </a:avLst>
          </a:prstGeom>
          <a:solidFill>
            <a:srgbClr val="FF705D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21540000">
            <a:off x="4000500" y="1275159"/>
            <a:ext cx="11430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BREAKDOWN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73361" y="1689497"/>
            <a:ext cx="5797167" cy="424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PM. 40 km from town. Bike dies.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731778" y="2253853"/>
            <a:ext cx="16804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705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one picks up.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 rot="21540000">
            <a:off x="2715643" y="2685780"/>
            <a:ext cx="3712602" cy="529178"/>
          </a:xfrm>
          <a:prstGeom prst="roundRect">
            <a:avLst>
              <a:gd name="adj" fmla="val 35999"/>
            </a:avLst>
          </a:prstGeom>
          <a:solidFill>
            <a:srgbClr val="FFFFFF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 rot="21540000">
            <a:off x="2710997" y="2711053"/>
            <a:ext cx="3721894" cy="516922"/>
          </a:xfrm>
          <a:prstGeom prst="rect">
            <a:avLst/>
          </a:prstGeom>
          <a:noFill/>
          <a:ln/>
        </p:spPr>
        <p:txBody>
          <a:bodyPr wrap="square" lIns="200025" tIns="142875" rIns="200025" bIns="142875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Vyapaar-Mitra. Say: "Bike kharab ho gayi."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2086730" y="3361134"/>
            <a:ext cx="497042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EE6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 seconds → 3 mechanics respond with prices.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2769043" y="3704034"/>
            <a:ext cx="3605915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Compare. Pick. He comes. You're home by midnight.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228600" y="4872038"/>
            <a:ext cx="1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 · Kuch Karke Dikhana Hai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8686589" y="4872038"/>
            <a:ext cx="32032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/ 14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1540000">
            <a:off x="3998650" y="1260445"/>
            <a:ext cx="1146699" cy="229455"/>
          </a:xfrm>
          <a:prstGeom prst="roundRect">
            <a:avLst>
              <a:gd name="adj" fmla="val 4146990"/>
            </a:avLst>
          </a:prstGeom>
          <a:solidFill>
            <a:srgbClr val="009146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21540000">
            <a:off x="4021931" y="1282303"/>
            <a:ext cx="11001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OTHER SIDE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81487" y="1696641"/>
            <a:ext cx="2581026" cy="424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700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is Ramesh.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734047" y="2260997"/>
            <a:ext cx="3675794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One-man repair shop. No website. No ads. No catalog.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 rot="60000">
            <a:off x="3291774" y="2638776"/>
            <a:ext cx="2560340" cy="901792"/>
          </a:xfrm>
          <a:prstGeom prst="roundRect">
            <a:avLst>
              <a:gd name="adj" fmla="val 21125"/>
            </a:avLst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 rot="60000">
            <a:off x="3293213" y="2653903"/>
            <a:ext cx="2557463" cy="941261"/>
          </a:xfrm>
          <a:prstGeom prst="rect">
            <a:avLst/>
          </a:prstGeom>
          <a:noFill/>
          <a:ln/>
        </p:spPr>
        <p:txBody>
          <a:bodyPr wrap="square" lIns="200025" tIns="142875" rIns="200025" bIns="142875" rtlCol="0" anchor="t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Tonight, he gets a ping.</a:t>
            </a:r>
            <a:endParaRPr lang="en-US" sz="1238" dirty="0"/>
          </a:p>
          <a:p>
            <a:pPr algn="ctr" indent="0" marL="0">
              <a:buNone/>
            </a:pPr>
            <a:r>
              <a:rPr lang="en-US" sz="1238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 taps YES. Adds his price.</a:t>
            </a:r>
            <a:endParaRPr lang="en-US" sz="1238" dirty="0"/>
          </a:p>
          <a:p>
            <a:pPr algn="ctr" indent="0" marL="0">
              <a:buNone/>
            </a:pPr>
            <a:r>
              <a:rPr lang="en-US" sz="1238" b="1" dirty="0">
                <a:solidFill>
                  <a:srgbClr val="1413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He earns ₹350.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2106960" y="3696891"/>
            <a:ext cx="4929969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middleman. No commission. Just a connection that finally happened.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8600" y="4872038"/>
            <a:ext cx="1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 · Kuch Karke Dikhana Hai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8686589" y="4872038"/>
            <a:ext cx="32032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/ 14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1540000">
            <a:off x="3573533" y="1225502"/>
            <a:ext cx="1996935" cy="206471"/>
          </a:xfrm>
          <a:prstGeom prst="roundRect">
            <a:avLst>
              <a:gd name="adj" fmla="val 4608625"/>
            </a:avLst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21540000">
            <a:off x="3568303" y="1235869"/>
            <a:ext cx="2007394" cy="237744"/>
          </a:xfrm>
          <a:prstGeom prst="rect">
            <a:avLst/>
          </a:prstGeom>
          <a:noFill/>
          <a:ln/>
        </p:spPr>
        <p:txBody>
          <a:bodyPr wrap="square" lIns="100013" tIns="28575" rIns="100013" bIns="28575" rtlCol="0" anchor="t"/>
          <a:lstStyle/>
          <a:p>
            <a:pPr algn="ctr" indent="0" marL="0">
              <a:buNone/>
            </a:pPr>
            <a:r>
              <a:rPr lang="en-US" sz="800" b="1" spc="8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LOOP, DIFFERENT PRODUCT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 rot="21540000">
            <a:off x="2618433" y="1623251"/>
            <a:ext cx="3907023" cy="596836"/>
          </a:xfrm>
          <a:prstGeom prst="roundRect">
            <a:avLst>
              <a:gd name="adj" fmla="val 31918"/>
            </a:avLst>
          </a:prstGeom>
          <a:solidFill>
            <a:srgbClr val="F5F1E4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 rot="21540000">
            <a:off x="2614556" y="1650206"/>
            <a:ext cx="3914775" cy="586359"/>
          </a:xfrm>
          <a:prstGeom prst="rect">
            <a:avLst/>
          </a:prstGeom>
          <a:noFill/>
          <a:ln/>
        </p:spPr>
        <p:txBody>
          <a:bodyPr wrap="square" lIns="200025" tIns="142875" rIns="200025" bIns="142875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"Half kg Basmati rice. Aur 2 liter oil."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3200012" y="2364581"/>
            <a:ext cx="2743977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kirana shops respond within 1.5 km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538067" y="2757488"/>
            <a:ext cx="4067866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 prices → Pick nearest → Walk over → Pick up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 rot="60000">
            <a:off x="2426835" y="3120086"/>
            <a:ext cx="4290330" cy="574965"/>
          </a:xfrm>
          <a:prstGeom prst="roundRect">
            <a:avLst>
              <a:gd name="adj" fmla="val 33132"/>
            </a:avLst>
          </a:prstGeom>
          <a:solidFill>
            <a:srgbClr val="FF705D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 rot="60000">
            <a:off x="2425303" y="3150394"/>
            <a:ext cx="4293394" cy="555498"/>
          </a:xfrm>
          <a:prstGeom prst="rect">
            <a:avLst/>
          </a:prstGeom>
          <a:noFill/>
          <a:ln/>
        </p:spPr>
        <p:txBody>
          <a:bodyPr wrap="square" lIns="200025" tIns="142875" rIns="200025" bIns="142875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shopkeeper who said NO? That NO is gold.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28879" y="3779044"/>
            <a:ext cx="2086131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Because it becomes a demand signal.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4872038"/>
            <a:ext cx="1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 · Kuch Karke Dikhana Hai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8686589" y="4872038"/>
            <a:ext cx="32032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 / 14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1540000">
            <a:off x="3817182" y="1396200"/>
            <a:ext cx="1509636" cy="236550"/>
          </a:xfrm>
          <a:prstGeom prst="roundRect">
            <a:avLst>
              <a:gd name="adj" fmla="val 4022606"/>
            </a:avLst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21540000">
            <a:off x="3839766" y="1421606"/>
            <a:ext cx="146446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70981" y="1778794"/>
            <a:ext cx="3802038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NO becomes a signal.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506831" y="2386013"/>
            <a:ext cx="1307663" cy="436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50" dirty="0">
                <a:solidFill>
                  <a:srgbClr val="FEE6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681731" y="2850356"/>
            <a:ext cx="95786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 asked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55058" y="2386013"/>
            <a:ext cx="14288" cy="5786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14864" y="2386013"/>
            <a:ext cx="1281232" cy="436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50" dirty="0">
                <a:solidFill>
                  <a:srgbClr val="FF705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79%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4086229" y="2850356"/>
            <a:ext cx="93850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couldn't find it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41615" y="2386013"/>
            <a:ext cx="14288" cy="5786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86587" y="2386013"/>
            <a:ext cx="1360349" cy="436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50" dirty="0">
                <a:solidFill>
                  <a:srgbClr val="0091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87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5468534" y="2850356"/>
            <a:ext cx="996455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score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19710" y="3250406"/>
            <a:ext cx="2704467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Privacy-safe ~300m heatmap. No customer identity exposed.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2421062" y="3536156"/>
            <a:ext cx="4301765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EE6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That's not just a marketplace. That's demand intelligence.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228600" y="4872038"/>
            <a:ext cx="1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 · Kuch Karke Dikhana Hai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8639978" y="4872038"/>
            <a:ext cx="38303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14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1540000">
            <a:off x="404231" y="502847"/>
            <a:ext cx="1183529" cy="230175"/>
          </a:xfrm>
          <a:prstGeom prst="roundRect">
            <a:avLst>
              <a:gd name="adj" fmla="val 4134018"/>
            </a:avLst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21540000">
            <a:off x="428067" y="525066"/>
            <a:ext cx="11358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 DASHBOARD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 rot="60000">
            <a:off x="7049111" y="335524"/>
            <a:ext cx="1663794" cy="564821"/>
          </a:xfrm>
          <a:prstGeom prst="roundRect">
            <a:avLst>
              <a:gd name="adj" fmla="val 33727"/>
            </a:avLst>
          </a:prstGeom>
          <a:solidFill>
            <a:srgbClr val="141313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 rot="60000">
            <a:off x="7045189" y="342900"/>
            <a:ext cx="1671638" cy="594074"/>
          </a:xfrm>
          <a:prstGeom prst="rect">
            <a:avLst/>
          </a:prstGeom>
          <a:noFill/>
          <a:ln/>
        </p:spPr>
        <p:txBody>
          <a:bodyPr wrap="none" lIns="200025" tIns="142875" rIns="200025" bIns="142875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₹299 / month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 rot="21540000">
            <a:off x="432108" y="2033995"/>
            <a:ext cx="2679083" cy="475436"/>
          </a:xfrm>
          <a:prstGeom prst="roundRect">
            <a:avLst>
              <a:gd name="adj" fmla="val 40068"/>
            </a:avLst>
          </a:prstGeom>
          <a:solidFill>
            <a:srgbClr val="F5F1E4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 rot="21540000">
            <a:off x="428625" y="2050256"/>
            <a:ext cx="2686050" cy="442913"/>
          </a:xfrm>
          <a:prstGeom prst="rect">
            <a:avLst/>
          </a:prstGeom>
          <a:noFill/>
          <a:ln/>
        </p:spPr>
        <p:txBody>
          <a:bodyPr wrap="none" lIns="200025" tIns="142875" rIns="200025" bIns="14287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Nearby hot products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60000">
            <a:off x="3232458" y="2033995"/>
            <a:ext cx="2679083" cy="475436"/>
          </a:xfrm>
          <a:prstGeom prst="roundRect">
            <a:avLst>
              <a:gd name="adj" fmla="val 40068"/>
            </a:avLst>
          </a:prstGeom>
          <a:solidFill>
            <a:srgbClr val="FFFFFF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 rot="60000">
            <a:off x="3228975" y="2050256"/>
            <a:ext cx="2686050" cy="442913"/>
          </a:xfrm>
          <a:prstGeom prst="rect">
            <a:avLst/>
          </a:prstGeom>
          <a:noFill/>
          <a:ln/>
        </p:spPr>
        <p:txBody>
          <a:bodyPr wrap="none" lIns="200025" tIns="142875" rIns="200025" bIns="14287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 rot="21540000">
            <a:off x="6032808" y="2033995"/>
            <a:ext cx="2679084" cy="475436"/>
          </a:xfrm>
          <a:prstGeom prst="roundRect">
            <a:avLst>
              <a:gd name="adj" fmla="val 40068"/>
            </a:avLst>
          </a:prstGeom>
          <a:solidFill>
            <a:srgbClr val="F5F1E4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 rot="21540000">
            <a:off x="6029325" y="2050256"/>
            <a:ext cx="2686050" cy="442913"/>
          </a:xfrm>
          <a:prstGeom prst="rect">
            <a:avLst/>
          </a:prstGeom>
          <a:noFill/>
          <a:ln/>
        </p:spPr>
        <p:txBody>
          <a:bodyPr wrap="none" lIns="200025" tIns="142875" rIns="200025" bIns="14287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Smart pricing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 rot="60000">
            <a:off x="432108" y="2591207"/>
            <a:ext cx="2679083" cy="475436"/>
          </a:xfrm>
          <a:prstGeom prst="roundRect">
            <a:avLst>
              <a:gd name="adj" fmla="val 40068"/>
            </a:avLst>
          </a:prstGeom>
          <a:solidFill>
            <a:srgbClr val="FFFFFF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 rot="60000">
            <a:off x="428625" y="2607469"/>
            <a:ext cx="2686050" cy="442913"/>
          </a:xfrm>
          <a:prstGeom prst="rect">
            <a:avLst/>
          </a:prstGeom>
          <a:noFill/>
          <a:ln/>
        </p:spPr>
        <p:txBody>
          <a:bodyPr wrap="none" lIns="200025" tIns="142875" rIns="200025" bIns="14287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Slow-mover alerts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 rot="21540000">
            <a:off x="3232458" y="2591207"/>
            <a:ext cx="2679083" cy="475436"/>
          </a:xfrm>
          <a:prstGeom prst="roundRect">
            <a:avLst>
              <a:gd name="adj" fmla="val 40068"/>
            </a:avLst>
          </a:prstGeom>
          <a:solidFill>
            <a:srgbClr val="F5F1E4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 rot="21540000">
            <a:off x="3228975" y="2607469"/>
            <a:ext cx="2686050" cy="442913"/>
          </a:xfrm>
          <a:prstGeom prst="rect">
            <a:avLst/>
          </a:prstGeom>
          <a:noFill/>
          <a:ln/>
        </p:spPr>
        <p:txBody>
          <a:bodyPr wrap="none" lIns="200025" tIns="142875" rIns="200025" bIns="14287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Festival readiness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 rot="60000">
            <a:off x="6032808" y="2591207"/>
            <a:ext cx="2679084" cy="475436"/>
          </a:xfrm>
          <a:prstGeom prst="roundRect">
            <a:avLst>
              <a:gd name="adj" fmla="val 40068"/>
            </a:avLst>
          </a:prstGeom>
          <a:solidFill>
            <a:srgbClr val="FFFFFF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 rot="60000">
            <a:off x="6029325" y="2607469"/>
            <a:ext cx="2686050" cy="442913"/>
          </a:xfrm>
          <a:prstGeom prst="rect">
            <a:avLst/>
          </a:prstGeom>
          <a:noFill/>
          <a:ln/>
        </p:spPr>
        <p:txBody>
          <a:bodyPr wrap="none" lIns="200025" tIns="142875" rIns="200025" bIns="14287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 heatmap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5769" y="4157663"/>
            <a:ext cx="8272463" cy="464344"/>
          </a:xfrm>
          <a:prstGeom prst="roundRect">
            <a:avLst>
              <a:gd name="adj" fmla="val 41026"/>
            </a:avLst>
          </a:prstGeom>
          <a:solidFill>
            <a:srgbClr val="009146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8625" y="4150519"/>
            <a:ext cx="8286750" cy="508349"/>
          </a:xfrm>
          <a:prstGeom prst="rect">
            <a:avLst/>
          </a:prstGeom>
          <a:noFill/>
          <a:ln/>
        </p:spPr>
        <p:txBody>
          <a:bodyPr wrap="square" lIns="200025" tIns="142875" rIns="200025" bIns="142875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commission. No ads. No race to the bottom.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28625" y="4686300"/>
            <a:ext cx="8286750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shopkeeper who succeeds pays the same ₹299 as the one just starting.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8600" y="4872038"/>
            <a:ext cx="1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 · Kuch Karke Dikhana Hai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8641479" y="4872038"/>
            <a:ext cx="3830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14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1540000">
            <a:off x="434288" y="333966"/>
            <a:ext cx="1832765" cy="203606"/>
          </a:xfrm>
          <a:prstGeom prst="roundRect">
            <a:avLst>
              <a:gd name="adj" fmla="val 4673475"/>
            </a:avLst>
          </a:prstGeom>
          <a:solidFill>
            <a:srgbClr val="FF705D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21540000">
            <a:off x="429127" y="342900"/>
            <a:ext cx="1843088" cy="237744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t"/>
          <a:lstStyle/>
          <a:p>
            <a:pPr algn="l" indent="0" marL="0">
              <a:buNone/>
            </a:pPr>
            <a:r>
              <a:rPr lang="en-US" sz="800" b="1" spc="84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SAFETY — THE 4-LAYER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35769" y="1685925"/>
            <a:ext cx="8272463" cy="407194"/>
          </a:xfrm>
          <a:prstGeom prst="roundRect">
            <a:avLst>
              <a:gd name="adj" fmla="val 46784"/>
            </a:avLst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363" y="1814513"/>
            <a:ext cx="81724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413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1357313" y="1807369"/>
            <a:ext cx="204311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Phone OTP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957513" y="1832372"/>
            <a:ext cx="5681853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41313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sha256 hashed · 5-min TTL · 5-attempt cap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5769" y="2193131"/>
            <a:ext cx="8272463" cy="407194"/>
          </a:xfrm>
          <a:prstGeom prst="roundRect">
            <a:avLst>
              <a:gd name="adj" fmla="val 46784"/>
            </a:avLst>
          </a:prstGeom>
          <a:solidFill>
            <a:srgbClr val="FFFFFF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4363" y="2321719"/>
            <a:ext cx="81724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413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1357313" y="2314575"/>
            <a:ext cx="17859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Shopfront Photo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2957513" y="2339578"/>
            <a:ext cx="5681853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41313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EXIF GPS + browser GPS cross-check (≤200m)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5769" y="2700338"/>
            <a:ext cx="8272463" cy="407194"/>
          </a:xfrm>
          <a:prstGeom prst="roundRect">
            <a:avLst>
              <a:gd name="adj" fmla="val 46784"/>
            </a:avLst>
          </a:prstGeom>
          <a:solidFill>
            <a:srgbClr val="F5F1E4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4363" y="2828925"/>
            <a:ext cx="81724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413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3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1357313" y="2821781"/>
            <a:ext cx="17859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Approval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2957513" y="2846784"/>
            <a:ext cx="5681853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41313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Human reviews photo before shop goes live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5769" y="3207544"/>
            <a:ext cx="8272463" cy="407194"/>
          </a:xfrm>
          <a:prstGeom prst="roundRect">
            <a:avLst>
              <a:gd name="adj" fmla="val 46784"/>
            </a:avLst>
          </a:prstGeom>
          <a:solidFill>
            <a:srgbClr val="FF705D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4363" y="3336131"/>
            <a:ext cx="81724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4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1357313" y="3328988"/>
            <a:ext cx="17859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is_verified Gate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2957513" y="3353991"/>
            <a:ext cx="5681853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Unverified shops are NEVER matched to customers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8625" y="4686300"/>
            <a:ext cx="8286750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 In-app chat (anonymised) · Report button · Panic button · Share-trip · Trusted contact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8600" y="4872038"/>
            <a:ext cx="1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 · Kuch Karke Dikhana Hai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8639978" y="4872038"/>
            <a:ext cx="38303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14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1540000">
            <a:off x="3982021" y="1631594"/>
            <a:ext cx="1179958" cy="230105"/>
          </a:xfrm>
          <a:prstGeom prst="roundRect">
            <a:avLst>
              <a:gd name="adj" fmla="val 4135275"/>
            </a:avLst>
          </a:prstGeom>
          <a:solidFill>
            <a:srgbClr val="FEE600"/>
          </a:solidFill>
          <a:ln w="14288">
            <a:solidFill>
              <a:srgbClr val="141313"/>
            </a:solidFill>
            <a:prstDash val="solid"/>
          </a:ln>
          <a:effectLst>
            <a:outerShdw sx="100000" sy="100000" kx="0" ky="0" algn="bl" rotWithShape="0" blurRad="101600" dist="53882" dir="2700000">
              <a:srgbClr val="141313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21540000">
            <a:off x="4007644" y="1653778"/>
            <a:ext cx="11287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UNIT ECONOMICS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1510" y="2125266"/>
            <a:ext cx="1253929" cy="429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EE6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₹254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03410" y="2582466"/>
            <a:ext cx="93013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ARPU / month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335459" y="2125266"/>
            <a:ext cx="1253929" cy="429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EE6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₹800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335459" y="2582466"/>
            <a:ext cx="125392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12792" y="2125266"/>
            <a:ext cx="1341882" cy="422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EE6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3.1 mo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012792" y="2575322"/>
            <a:ext cx="134188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11904" y="2125266"/>
            <a:ext cx="1069631" cy="422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EE6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7.6×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913451" y="2575322"/>
            <a:ext cx="866537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LTV / CAC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279626" y="2125266"/>
            <a:ext cx="1098173" cy="422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EE6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85%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426507" y="2575322"/>
            <a:ext cx="80441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12325" y="2982516"/>
            <a:ext cx="351923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is a real business. Not just a demo.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30798" y="3353991"/>
            <a:ext cx="3882293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₹15 lakh seed ask · 18-month runway · 500 shops · ₹1.27L MRR (Year 1)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4872038"/>
            <a:ext cx="1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 · Kuch Karke Dikhana Hai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8639978" y="4872038"/>
            <a:ext cx="38303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14</a:t>
            </a:r>
            <a:endParaRPr lang="en-US" sz="6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3414" y="1489472"/>
            <a:ext cx="4297173" cy="570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413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286250" y="2275284"/>
            <a:ext cx="571500" cy="35719"/>
          </a:xfrm>
          <a:prstGeom prst="roundRect">
            <a:avLst>
              <a:gd name="adj" fmla="val 79999"/>
            </a:avLst>
          </a:prstGeom>
          <a:solidFill>
            <a:srgbClr val="1413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37616" y="2539603"/>
            <a:ext cx="3268768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0091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Kuch Karke Dikhana Hai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665400" y="3089672"/>
            <a:ext cx="3813088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41313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demand layer for India's $850B neighborhood retail.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235226" y="3539728"/>
            <a:ext cx="2673548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141313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github.com/IamKavy47/vyapaar · localmart.mufests.com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228600" y="4872038"/>
            <a:ext cx="1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Vyapaar-Mitra · Kuch Karke Dikhana Hai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8639978" y="4872038"/>
            <a:ext cx="38303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8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14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2026-10-17T06:57:57Z</dcterms:created>
  <dcterms:modified xsi:type="dcterms:W3CDTF">2026-10-17T06:57:57Z</dcterms:modified>
</cp:coreProperties>
</file>